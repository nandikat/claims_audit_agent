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218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5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12.png"/><Relationship Id="rId9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2D2A6E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554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A5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INTERN ASSESSMENT  ·  TOPIC 2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for Clinical Decision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in Healthcare Payment Integrity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opportunities for Cotiviti, grounded in a working proof of concept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989320"/>
            <a:ext cx="3108960" cy="0"/>
          </a:xfrm>
          <a:prstGeom prst="line">
            <a:avLst/>
          </a:prstGeom>
          <a:noFill/>
          <a:ln w="12700">
            <a:solidFill>
              <a:srgbClr val="4440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610819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8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Nandika Taneja  ·  Arizona State University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01200" y="61081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Agentic AI?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Multi-step, goal-directed reasoning — not single-turn answers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generative AI plans a sequence of actions, executes them, evaluates the results, and adjusts course autonomously toward a goal.</a:t>
            </a:r>
            <a:endParaRPr lang="en-US" sz="14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healthcare's Treatment, Payment, and Operations (TPO) context, this means chaining classification, anomaly detection, and inference into one coherent reasoning workflow — the way a human analyst investigates a case.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Philips, 2026; HealthVerity, 2025; Deloitte Insights,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126480" y="1600200"/>
            <a:ext cx="1298448" cy="3291840"/>
          </a:xfrm>
          <a:prstGeom prst="roundRect">
            <a:avLst>
              <a:gd name="adj" fmla="val 5634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83096" y="1874520"/>
            <a:ext cx="585216" cy="585216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200253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0" y="25877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63056" y="2898648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Contextualize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81344" y="35204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claim</a:t>
            </a:r>
            <a:endParaRPr lang="en-US" sz="10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3154680"/>
            <a:ext cx="201168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607808" y="1600200"/>
            <a:ext cx="1298448" cy="3291840"/>
          </a:xfrm>
          <a:prstGeom prst="roundRect">
            <a:avLst>
              <a:gd name="adj" fmla="val 5634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64424" y="1874520"/>
            <a:ext cx="585216" cy="585216"/>
          </a:xfrm>
          <a:prstGeom prst="ellipse">
            <a:avLst/>
          </a:prstGeom>
          <a:solidFill>
            <a:srgbClr val="FDF1DE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200253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607808" y="25877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44384" y="2898648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7662672" y="35204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anomalies</a:t>
            </a:r>
            <a:endParaRPr lang="en-US" sz="105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4" y="3154680"/>
            <a:ext cx="201168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089136" y="1600200"/>
            <a:ext cx="1298448" cy="3291840"/>
          </a:xfrm>
          <a:prstGeom prst="roundRect">
            <a:avLst>
              <a:gd name="adj" fmla="val 5634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445752" y="1874520"/>
            <a:ext cx="585216" cy="585216"/>
          </a:xfrm>
          <a:prstGeom prst="ellipse">
            <a:avLst/>
          </a:prstGeom>
          <a:solidFill>
            <a:srgbClr val="FDE7E3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3768" y="200253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089136" y="25877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9125712" y="2898648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9144000" y="35204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Approve/Flag/Deny</a:t>
            </a:r>
            <a:endParaRPr lang="en-US" sz="10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3154680"/>
            <a:ext cx="201168" cy="18288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0570464" y="1600200"/>
            <a:ext cx="1298448" cy="3291840"/>
          </a:xfrm>
          <a:prstGeom prst="roundRect">
            <a:avLst>
              <a:gd name="adj" fmla="val 5634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10927080" y="1874520"/>
            <a:ext cx="585216" cy="585216"/>
          </a:xfrm>
          <a:prstGeom prst="ellipse">
            <a:avLst/>
          </a:prstGeom>
          <a:solidFill>
            <a:srgbClr val="DCF5E6"/>
          </a:solidFill>
          <a:ln/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5096" y="2002536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570464" y="2587752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607040" y="2898648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200" dirty="0"/>
          </a:p>
        </p:txBody>
      </p:sp>
      <p:sp>
        <p:nvSpPr>
          <p:cNvPr id="32" name="Text 23"/>
          <p:cNvSpPr/>
          <p:nvPr/>
        </p:nvSpPr>
        <p:spPr>
          <a:xfrm>
            <a:off x="10625328" y="352044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action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Evolution of Clinical Decision Support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autonomous reasoning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84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2404872"/>
            <a:ext cx="777240" cy="777240"/>
          </a:xfrm>
          <a:prstGeom prst="ellipse">
            <a:avLst/>
          </a:prstGeom>
          <a:solidFill>
            <a:srgbClr val="F0F0EE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2606954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Engines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68680" y="388620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logic catches known fraud patterns but is brittle against novel schemes.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63440" y="1984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63440" y="2404872"/>
            <a:ext cx="777240" cy="77724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522" y="2606954"/>
            <a:ext cx="373075" cy="37307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Classifiers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663440" y="388620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and regression models layer onto rules for readmission risk and claim flagging.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1E1B4B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458200" y="1984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5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458200" y="2404872"/>
            <a:ext cx="777240" cy="777240"/>
          </a:xfrm>
          <a:prstGeom prst="ellipse">
            <a:avLst/>
          </a:prstGeom>
          <a:solidFill>
            <a:srgbClr val="3730A3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0282" y="2606954"/>
            <a:ext cx="373075" cy="37307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5820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458200" y="388620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8D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orchestration routes claims through multi-step analysis with an auditable reasoning trail.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Is Accelerating Sharply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the inflection point for agentic AI in healthcare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CCFBF1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healthcare executives expect agentic AI to deliver measurable value in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under 50% in 2024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1688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FDE7E3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6008" y="210312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45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$300B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36008" y="320040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annually to healthcare fraud, waste, and abuse industry-wide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36008" y="51206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NHCAA conservative-to-high estimate range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74736" y="173736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E5E4F7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49056" y="210312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67/61/54%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449056" y="320040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expected ROI areas: workflow automation, admin burden, decision support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49056" y="51206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2026 US Health Care Outlook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Deloitte Insights, 2026; National Health Care Anti-Fraud Association, 2025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 and Threats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4846320"/>
          </a:xfrm>
          <a:prstGeom prst="roundRect">
            <a:avLst>
              <a:gd name="adj" fmla="val 1887"/>
            </a:avLst>
          </a:prstGeom>
          <a:solidFill>
            <a:srgbClr val="DCF5E6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642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326" y="1806854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8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423160"/>
            <a:ext cx="4709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auditing catches upcoding, unbundling, and inconsistent claims that static thresholds miss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review effort earlier in the claims lifecycle — prepay rather than post-payment recovery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complement to the Edifecs acquisition: a unified data layer for agentic reasoning across the full claims lifecycle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99632" y="1371600"/>
            <a:ext cx="5440680" cy="4846320"/>
          </a:xfrm>
          <a:prstGeom prst="roundRect">
            <a:avLst>
              <a:gd name="adj" fmla="val 1887"/>
            </a:avLst>
          </a:prstGeom>
          <a:solidFill>
            <a:srgbClr val="FDE7E3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19672" y="16642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318" y="180685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0547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45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65392" y="2423160"/>
            <a:ext cx="4709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and unverifiable reasoning chains create audit and regulatory risk under CMS oversight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 decisions risk appeals or legal exposure without defensible, traceable rationale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Over-flagging by poorly tuned agents risks provider abrasion and damaged payer relationships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Cotiviti, 2025d (The practical landscape of AI in payment integrity and VBP)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2D2A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Recommendations for Cotiviti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near-term moves to capture agentic AI value responsibly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1207008"/>
          </a:xfrm>
          <a:prstGeom prst="roundRect">
            <a:avLst>
              <a:gd name="adj" fmla="val 6818"/>
            </a:avLst>
          </a:prstGeom>
          <a:solidFill>
            <a:srgbClr val="26225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600200" y="2020824"/>
            <a:ext cx="548640" cy="548640"/>
          </a:xfrm>
          <a:prstGeom prst="ellipse">
            <a:avLst/>
          </a:prstGeom>
          <a:solidFill>
            <a:srgbClr val="3730A3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46" y="2163470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423160" y="1810512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a chain-of-reasoning claims triage agent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2423160" y="2221992"/>
            <a:ext cx="8869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contextualize → detect → classify → recommend as a first-pass layer ahead of human auditors, starting with high-volume, low-complexity claims.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108960"/>
            <a:ext cx="11064240" cy="1207008"/>
          </a:xfrm>
          <a:prstGeom prst="roundRect">
            <a:avLst>
              <a:gd name="adj" fmla="val 6818"/>
            </a:avLst>
          </a:prstGeom>
          <a:solidFill>
            <a:srgbClr val="26225C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3246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1600200" y="3438144"/>
            <a:ext cx="548640" cy="548640"/>
          </a:xfrm>
          <a:prstGeom prst="ellipse">
            <a:avLst/>
          </a:prstGeom>
          <a:solidFill>
            <a:srgbClr val="3730A3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846" y="3580790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423160" y="3227832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 in explainability tooling alongside the AI Center of Excellence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2423160" y="3639312"/>
            <a:ext cx="8869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agentic decision should generate a structured, human-readable audit trail tied to the specific policy or pattern that triggered it.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4526280"/>
            <a:ext cx="11064240" cy="1207008"/>
          </a:xfrm>
          <a:prstGeom prst="roundRect">
            <a:avLst>
              <a:gd name="adj" fmla="val 6818"/>
            </a:avLst>
          </a:prstGeom>
          <a:solidFill>
            <a:srgbClr val="26225C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6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1600200" y="4855464"/>
            <a:ext cx="548640" cy="548640"/>
          </a:xfrm>
          <a:prstGeom prst="ellipse">
            <a:avLst/>
          </a:prstGeom>
          <a:solidFill>
            <a:srgbClr val="3730A3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2846" y="4998110"/>
            <a:ext cx="263347" cy="26334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423160" y="4645152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 agentic reasoning with the Edifecs interoperability layer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2423160" y="5056632"/>
            <a:ext cx="8869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agent's first tool call query Edifecs' unified data layer — enabling lifecycle-wide pattern recognition, not isolated per-claim review.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of Concept: Claims Audit Agent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demonstrator of the four-step reasoning chain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602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554480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429000" y="1554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7602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06240" y="1554480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309360" y="1554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17602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086600" y="1554480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JS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9189720" y="1554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AFAF9"/>
          </a:solidFill>
          <a:ln w="12700">
            <a:solidFill>
              <a:srgbClr val="E5E5E0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0888" y="176022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966960" y="1554480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claims CSV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278892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77240" y="3044952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3172968"/>
            <a:ext cx="246888" cy="2468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7320" y="3063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20" name="Text 13"/>
          <p:cNvSpPr/>
          <p:nvPr/>
        </p:nvSpPr>
        <p:spPr>
          <a:xfrm>
            <a:off x="1417320" y="3246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Contextualize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777240" y="37490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claim fields: CPT, ICD-10, billed vs. allowed amount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2968" y="3931920"/>
            <a:ext cx="182880" cy="18288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3383280" y="278892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3611880" y="3044952"/>
            <a:ext cx="502920" cy="502920"/>
          </a:xfrm>
          <a:prstGeom prst="ellipse">
            <a:avLst/>
          </a:prstGeom>
          <a:solidFill>
            <a:srgbClr val="FDF1DE"/>
          </a:solidFill>
          <a:ln/>
        </p:spPr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39896" y="3172968"/>
            <a:ext cx="246888" cy="24688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4251960" y="3063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27" name="Text 18"/>
          <p:cNvSpPr/>
          <p:nvPr/>
        </p:nvSpPr>
        <p:spPr>
          <a:xfrm>
            <a:off x="4251960" y="3246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 Anomalies</a:t>
            </a:r>
            <a:endParaRPr lang="en-US" sz="1450" dirty="0"/>
          </a:p>
        </p:txBody>
      </p:sp>
      <p:sp>
        <p:nvSpPr>
          <p:cNvPr id="28" name="Text 19"/>
          <p:cNvSpPr/>
          <p:nvPr/>
        </p:nvSpPr>
        <p:spPr>
          <a:xfrm>
            <a:off x="3611880" y="37490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impossible dates, excessive units, CPT/ICD mismatch</a:t>
            </a:r>
            <a:endParaRPr lang="en-US" sz="11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7608" y="3931920"/>
            <a:ext cx="182880" cy="182880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6217920" y="278892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6446520" y="3044952"/>
            <a:ext cx="502920" cy="502920"/>
          </a:xfrm>
          <a:prstGeom prst="ellipse">
            <a:avLst/>
          </a:prstGeom>
          <a:solidFill>
            <a:srgbClr val="FDE7E3"/>
          </a:solidFill>
          <a:ln/>
        </p:spPr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4536" y="3172968"/>
            <a:ext cx="246888" cy="246888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086600" y="3063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34" name="Text 23"/>
          <p:cNvSpPr/>
          <p:nvPr/>
        </p:nvSpPr>
        <p:spPr>
          <a:xfrm>
            <a:off x="7086600" y="3246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1450" dirty="0"/>
          </a:p>
        </p:txBody>
      </p:sp>
      <p:sp>
        <p:nvSpPr>
          <p:cNvPr id="35" name="Text 24"/>
          <p:cNvSpPr/>
          <p:nvPr/>
        </p:nvSpPr>
        <p:spPr>
          <a:xfrm>
            <a:off x="6446520" y="37490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· Flag for review · Deny, with justification</a:t>
            </a:r>
            <a:endParaRPr lang="en-US" sz="11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2248" y="3931920"/>
            <a:ext cx="182880" cy="182880"/>
          </a:xfrm>
          <a:prstGeom prst="rect">
            <a:avLst/>
          </a:prstGeom>
        </p:spPr>
      </p:pic>
      <p:sp>
        <p:nvSpPr>
          <p:cNvPr id="37" name="Shape 25"/>
          <p:cNvSpPr/>
          <p:nvPr/>
        </p:nvSpPr>
        <p:spPr>
          <a:xfrm>
            <a:off x="9052560" y="2788920"/>
            <a:ext cx="26060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9281160" y="3044952"/>
            <a:ext cx="502920" cy="502920"/>
          </a:xfrm>
          <a:prstGeom prst="ellipse">
            <a:avLst/>
          </a:prstGeom>
          <a:solidFill>
            <a:srgbClr val="DCF5E6"/>
          </a:solidFill>
          <a:ln/>
        </p:spPr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9176" y="3172968"/>
            <a:ext cx="246888" cy="246888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9921240" y="3063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41" name="Text 28"/>
          <p:cNvSpPr/>
          <p:nvPr/>
        </p:nvSpPr>
        <p:spPr>
          <a:xfrm>
            <a:off x="9921240" y="324612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450" dirty="0"/>
          </a:p>
        </p:txBody>
      </p:sp>
      <p:sp>
        <p:nvSpPr>
          <p:cNvPr id="42" name="Text 29"/>
          <p:cNvSpPr/>
          <p:nvPr/>
        </p:nvSpPr>
        <p:spPr>
          <a:xfrm>
            <a:off x="9281160" y="37490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next action for the Cotiviti audit team</a:t>
            </a:r>
            <a:endParaRPr lang="en-US" sz="1100" dirty="0"/>
          </a:p>
        </p:txBody>
      </p:sp>
      <p:sp>
        <p:nvSpPr>
          <p:cNvPr id="43" name="Text 30"/>
          <p:cNvSpPr/>
          <p:nvPr/>
        </p:nvSpPr>
        <p:spPr>
          <a:xfrm>
            <a:off x="548640" y="5440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step's output feeds the next — the model reasons like a payment integrity analyst, not a lookup table.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Three Claim Scenarios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synthetic claims spanning clean, upcoded, and fraud-pattern examples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DCF5E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8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Office Visit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99213 for acute URI (J06.9). Billed amount within normal range. No anomalies detected.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2971800" cy="0"/>
          </a:xfrm>
          <a:prstGeom prst="line">
            <a:avLst/>
          </a:prstGeom>
          <a:noFill/>
          <a:ln w="12700">
            <a:solidFill>
              <a:srgbClr val="E5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1663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reasons through all 4 steps live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61688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36008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DF1DE"/>
          </a:solidFill>
          <a:ln/>
        </p:spPr>
      </p:sp>
      <p:sp>
        <p:nvSpPr>
          <p:cNvPr id="13" name="Text 11"/>
          <p:cNvSpPr/>
          <p:nvPr/>
        </p:nvSpPr>
        <p:spPr>
          <a:xfrm>
            <a:off x="4636008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7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36008" y="25603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Suspected Upcoding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36008" y="315468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99215 (high complexity) billed for a routine cold. Diagnosis does not support complexity level.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36008" y="5029200"/>
            <a:ext cx="2971800" cy="0"/>
          </a:xfrm>
          <a:prstGeom prst="line">
            <a:avLst/>
          </a:prstGeom>
          <a:noFill/>
          <a:ln w="12700">
            <a:solidFill>
              <a:srgbClr val="E5E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36008" y="51663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reasons through all 4 steps live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74736" y="169164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49056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DE7E3"/>
          </a:solidFill>
          <a:ln/>
        </p:spPr>
      </p:sp>
      <p:sp>
        <p:nvSpPr>
          <p:cNvPr id="20" name="Text 18"/>
          <p:cNvSpPr/>
          <p:nvPr/>
        </p:nvSpPr>
        <p:spPr>
          <a:xfrm>
            <a:off x="8449056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4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49056" y="256032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Multi-Flag Fraud Pattern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49056" y="315468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2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date Feb 30 (impossible), 48 units in one day, 6x normal billed amount.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49056" y="5029200"/>
            <a:ext cx="2971800" cy="0"/>
          </a:xfrm>
          <a:prstGeom prst="line">
            <a:avLst/>
          </a:prstGeom>
          <a:noFill/>
          <a:ln w="12700">
            <a:solidFill>
              <a:srgbClr val="E5E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49056" y="516636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reasons through all 4 steps live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2D2A6E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783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7C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 welcome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200400"/>
            <a:ext cx="3657600" cy="0"/>
          </a:xfrm>
          <a:prstGeom prst="line">
            <a:avLst/>
          </a:prstGeom>
          <a:noFill/>
          <a:ln w="12700">
            <a:solidFill>
              <a:srgbClr val="44408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5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list available in the written report and GitHub repository.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37947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8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sources: Deloitte Insights (2026) · NHCAA (2025) · Cotiviti Newsroom (2025) · BCG (2026) · Milliman (2025)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E8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Nandika Taneja  ·  Arizona State University  ·  tanejanandika@gmail.com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781</Words>
  <Application>Microsoft Office PowerPoint</Application>
  <PresentationFormat>Widescreen</PresentationFormat>
  <Paragraphs>114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Clinical Decision Making in Healthcare Payment Integrity</dc:title>
  <dc:subject>PptxGenJS Presentation</dc:subject>
  <dc:creator>Cotiviti Intern Candidate</dc:creator>
  <cp:lastModifiedBy>regular</cp:lastModifiedBy>
  <cp:revision>4</cp:revision>
  <dcterms:created xsi:type="dcterms:W3CDTF">2026-06-30T07:28:47Z</dcterms:created>
  <dcterms:modified xsi:type="dcterms:W3CDTF">2026-06-30T21:28:02Z</dcterms:modified>
</cp:coreProperties>
</file>